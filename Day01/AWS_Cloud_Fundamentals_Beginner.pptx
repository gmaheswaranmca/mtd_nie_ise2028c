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Introduction to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A simple way to use computing resources over the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67208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6217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2B4D"/>
                </a:solidFill>
                <a:latin typeface="Aptos"/>
              </a:rPr>
              <a:t>What is cloud computing?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608076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5303E"/>
                </a:solidFill>
                <a:latin typeface="Aptos"/>
              </a:rPr>
              <a:t>Instead of buying and maintaining your own servers, you rent computing resources from a provider over the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5989320" cy="169164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5303E"/>
                </a:solidFill>
                <a:latin typeface="Aptos"/>
              </a:defRPr>
            </a:pPr>
            <a:r>
              <a:rPr sz="1600" b="1">
                <a:solidFill>
                  <a:srgbClr val="2D6FBE"/>
                </a:solidFill>
                <a:latin typeface="Aptos"/>
              </a:rPr>
              <a:t>• On demand: </a:t>
            </a:r>
            <a:r>
              <a:rPr sz="1600">
                <a:solidFill>
                  <a:srgbClr val="25303E"/>
                </a:solidFill>
                <a:latin typeface="Aptos"/>
              </a:rPr>
              <a:t>use resources when you need them.</a:t>
            </a:r>
          </a:p>
          <a:p>
            <a:pPr>
              <a:spcAft>
                <a:spcPts val="800"/>
              </a:spcAft>
              <a:defRPr sz="1600">
                <a:solidFill>
                  <a:srgbClr val="25303E"/>
                </a:solidFill>
                <a:latin typeface="Aptos"/>
              </a:defRPr>
            </a:pPr>
            <a:r>
              <a:rPr sz="1600" b="1">
                <a:solidFill>
                  <a:srgbClr val="2D6FBE"/>
                </a:solidFill>
                <a:latin typeface="Aptos"/>
              </a:rPr>
              <a:t>• Pay for usage: </a:t>
            </a:r>
            <a:r>
              <a:rPr sz="1600">
                <a:solidFill>
                  <a:srgbClr val="25303E"/>
                </a:solidFill>
                <a:latin typeface="Aptos"/>
              </a:rPr>
              <a:t>many services charge based on what you use.</a:t>
            </a:r>
          </a:p>
          <a:p>
            <a:pPr>
              <a:spcAft>
                <a:spcPts val="800"/>
              </a:spcAft>
              <a:defRPr sz="1600">
                <a:solidFill>
                  <a:srgbClr val="25303E"/>
                </a:solidFill>
                <a:latin typeface="Aptos"/>
              </a:defRPr>
            </a:pPr>
            <a:r>
              <a:rPr sz="1600" b="1">
                <a:solidFill>
                  <a:srgbClr val="2D6FBE"/>
                </a:solidFill>
                <a:latin typeface="Aptos"/>
              </a:rPr>
              <a:t>• Scale easily: </a:t>
            </a:r>
            <a:r>
              <a:rPr sz="1600">
                <a:solidFill>
                  <a:srgbClr val="25303E"/>
                </a:solidFill>
                <a:latin typeface="Aptos"/>
              </a:rPr>
              <a:t>increase or reduce resources as needs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508760"/>
            <a:ext cx="3886200" cy="3977639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10512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62B4D"/>
                </a:solidFill>
                <a:latin typeface="Aptos"/>
              </a:rPr>
              <a:t>Everyday analogy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0" y="2359152"/>
            <a:ext cx="1143000" cy="1143000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2386584"/>
            <a:ext cx="1088136" cy="10881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657600"/>
            <a:ext cx="315468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5303E"/>
                </a:solidFill>
                <a:latin typeface="Aptos"/>
              </a:rPr>
              <a:t>Like using electricity from the power grid: you use the service without owning the power station.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Cloud computing means renting IT resources instead of owning all the equipment.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IaaS, PaaS and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Three levels of cloud service—think of how much you want to manage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3649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47088" y="1847088"/>
            <a:ext cx="749808" cy="749808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874519"/>
            <a:ext cx="69494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992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62B4D"/>
                </a:solidFill>
                <a:latin typeface="Aptos"/>
              </a:rPr>
              <a:t>IaaS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63240"/>
            <a:ext cx="3035808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37181"/>
                </a:solidFill>
                <a:latin typeface="Aptos"/>
              </a:rPr>
              <a:t>Infrastructure as a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2816352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Rent virtual computers, storage and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43984"/>
            <a:ext cx="290779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6FBE"/>
                </a:solidFill>
                <a:latin typeface="Aptos"/>
              </a:rPr>
              <a:t>You manage: operating system and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10912"/>
            <a:ext cx="2907792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37181"/>
                </a:solidFill>
                <a:latin typeface="Aptos"/>
              </a:rPr>
              <a:t>Example: Amazon EC2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600200"/>
            <a:ext cx="33649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0136" y="1847088"/>
            <a:ext cx="749808" cy="749808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874519"/>
            <a:ext cx="69494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97480"/>
            <a:ext cx="29992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62B4D"/>
                </a:solidFill>
                <a:latin typeface="Aptos"/>
              </a:rPr>
              <a:t>PaaS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63240"/>
            <a:ext cx="3035808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37181"/>
                </a:solidFill>
                <a:latin typeface="Aptos"/>
              </a:rPr>
              <a:t>Platform as 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611880"/>
            <a:ext cx="2816352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Use a ready platform to build and run apps.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443984"/>
            <a:ext cx="290779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6FBE"/>
                </a:solidFill>
                <a:latin typeface="Aptos"/>
              </a:rPr>
              <a:t>You manage: your app and its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5010912"/>
            <a:ext cx="2907792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37181"/>
                </a:solidFill>
                <a:latin typeface="Aptos"/>
              </a:rPr>
              <a:t>Example: AWS Elastic Beanstalk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1600200"/>
            <a:ext cx="33649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3184" y="1847088"/>
            <a:ext cx="749808" cy="749808"/>
          </a:xfrm>
          <a:prstGeom prst="ellipse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5" y="1874519"/>
            <a:ext cx="69494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697480"/>
            <a:ext cx="299923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62B4D"/>
                </a:solidFill>
                <a:latin typeface="Aptos"/>
              </a:rPr>
              <a:t>SaaS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63240"/>
            <a:ext cx="3035808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37181"/>
                </a:solidFill>
                <a:latin typeface="Aptos"/>
              </a:rPr>
              <a:t>Software as a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6" y="3611880"/>
            <a:ext cx="2816352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Use finished software through a browser or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4443984"/>
            <a:ext cx="290779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6FBE"/>
                </a:solidFill>
                <a:latin typeface="Aptos"/>
              </a:rPr>
              <a:t>You manage: mostly your settings and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5010912"/>
            <a:ext cx="2907792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37181"/>
                </a:solidFill>
                <a:latin typeface="Aptos"/>
              </a:rPr>
              <a:t>Example: Gmail / Microsoft 365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IaaS = rent building blocks; PaaS = bring your code; SaaS = use the finished app.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Public, Private and Hybrid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Where the cloud environment is hosted and how it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83664" y="1965960"/>
            <a:ext cx="749808" cy="749808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1095" y="1993391"/>
            <a:ext cx="69494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52928"/>
            <a:ext cx="29443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2B4D"/>
                </a:solidFill>
                <a:latin typeface="Aptos"/>
              </a:rPr>
              <a:t>PUBLIC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83280"/>
            <a:ext cx="2724912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Shared provider infrastructure, separated securely between customers.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462272"/>
            <a:ext cx="2724912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637181"/>
                </a:solidFill>
                <a:latin typeface="Aptos"/>
              </a:rPr>
              <a:t>Like renting a room in a large hotel.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78424" y="1965960"/>
            <a:ext cx="749808" cy="749808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993391"/>
            <a:ext cx="69494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52928"/>
            <a:ext cx="29443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2B4D"/>
                </a:solidFill>
                <a:latin typeface="Aptos"/>
              </a:rPr>
              <a:t>PRIVATE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383280"/>
            <a:ext cx="2724912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Cloud environment dedicated to one organisation.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462272"/>
            <a:ext cx="2724912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637181"/>
                </a:solidFill>
                <a:latin typeface="Aptos"/>
              </a:rPr>
              <a:t>Like having your own private building.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91640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73184" y="1965960"/>
            <a:ext cx="749808" cy="749808"/>
          </a:xfrm>
          <a:prstGeom prst="ellipse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5" y="1993391"/>
            <a:ext cx="69494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52928"/>
            <a:ext cx="29443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2B4D"/>
                </a:solidFill>
                <a:latin typeface="Aptos"/>
              </a:rPr>
              <a:t>HYBRID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383280"/>
            <a:ext cx="2724912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A mix of private infrastructure and public cloud.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4462272"/>
            <a:ext cx="2724912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637181"/>
                </a:solidFill>
                <a:latin typeface="Aptos"/>
              </a:rPr>
              <a:t>Like keeping valuables at home and using a hotel when needed.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Public, private and hybrid describe the deployment approach—not whether data is automatically secure.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AWS Global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AWS operates data centres in different parts of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6400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58521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2B4D"/>
                </a:solidFill>
                <a:latin typeface="Aptos"/>
              </a:rPr>
              <a:t>A simplified global picture</a:t>
            </a:r>
          </a:p>
        </p:txBody>
      </p:sp>
      <p:sp>
        <p:nvSpPr>
          <p:cNvPr id="8" name="Oval 7"/>
          <p:cNvSpPr/>
          <p:nvPr/>
        </p:nvSpPr>
        <p:spPr>
          <a:xfrm>
            <a:off x="2057400" y="2395728"/>
            <a:ext cx="3337560" cy="2286000"/>
          </a:xfrm>
          <a:prstGeom prst="ellipse">
            <a:avLst/>
          </a:prstGeom>
          <a:solidFill>
            <a:srgbClr val="EFF6FC"/>
          </a:solidFill>
          <a:ln w="25400">
            <a:solidFill>
              <a:srgbClr val="2F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880360" y="2560320"/>
            <a:ext cx="0" cy="1965960"/>
          </a:xfrm>
          <a:prstGeom prst="line">
            <a:avLst/>
          </a:prstGeom>
          <a:ln w="12700">
            <a:solidFill>
              <a:srgbClr val="DA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2560320"/>
            <a:ext cx="0" cy="1965960"/>
          </a:xfrm>
          <a:prstGeom prst="line">
            <a:avLst/>
          </a:prstGeom>
          <a:ln w="12700">
            <a:solidFill>
              <a:srgbClr val="DA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34840" y="2560320"/>
            <a:ext cx="0" cy="1965960"/>
          </a:xfrm>
          <a:prstGeom prst="line">
            <a:avLst/>
          </a:prstGeom>
          <a:ln w="12700">
            <a:solidFill>
              <a:srgbClr val="DA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67712" y="3063240"/>
            <a:ext cx="2926080" cy="0"/>
          </a:xfrm>
          <a:prstGeom prst="line">
            <a:avLst/>
          </a:prstGeom>
          <a:ln w="12700">
            <a:solidFill>
              <a:srgbClr val="DA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67712" y="3749039"/>
            <a:ext cx="2926080" cy="0"/>
          </a:xfrm>
          <a:prstGeom prst="line">
            <a:avLst/>
          </a:prstGeom>
          <a:ln w="12700">
            <a:solidFill>
              <a:srgbClr val="DA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14600" y="2880360"/>
            <a:ext cx="438912" cy="438912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2907791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355848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Americas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743200"/>
            <a:ext cx="438912" cy="438912"/>
          </a:xfrm>
          <a:prstGeom prst="ellipse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2770632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18688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Europe</a:t>
            </a:r>
          </a:p>
        </p:txBody>
      </p:sp>
      <p:sp>
        <p:nvSpPr>
          <p:cNvPr id="20" name="Oval 19"/>
          <p:cNvSpPr/>
          <p:nvPr/>
        </p:nvSpPr>
        <p:spPr>
          <a:xfrm>
            <a:off x="4069080" y="3794760"/>
            <a:ext cx="438912" cy="438912"/>
          </a:xfrm>
          <a:prstGeom prst="ellipse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2" y="3822192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270248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Asia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554480"/>
            <a:ext cx="42062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1828800"/>
            <a:ext cx="3611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2B4D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395728"/>
            <a:ext cx="3611880" cy="256032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Closer services: </a:t>
            </a:r>
            <a:r>
              <a:rPr sz="1500">
                <a:solidFill>
                  <a:srgbClr val="25303E"/>
                </a:solidFill>
                <a:latin typeface="Aptos"/>
              </a:rPr>
              <a:t>can reduce delay for users.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Choice: </a:t>
            </a:r>
            <a:r>
              <a:rPr sz="1500">
                <a:solidFill>
                  <a:srgbClr val="25303E"/>
                </a:solidFill>
                <a:latin typeface="Aptos"/>
              </a:rPr>
              <a:t>select locations suitable for your needs.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Resilience: </a:t>
            </a:r>
            <a:r>
              <a:rPr sz="1500">
                <a:solidFill>
                  <a:srgbClr val="25303E"/>
                </a:solidFill>
                <a:latin typeface="Aptos"/>
              </a:rPr>
              <a:t>design across separate locations to reduce disruption.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Compliance: </a:t>
            </a:r>
            <a:r>
              <a:rPr sz="1500">
                <a:solidFill>
                  <a:srgbClr val="25303E"/>
                </a:solidFill>
                <a:latin typeface="Aptos"/>
              </a:rPr>
              <a:t>help meet data-location requirements.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AWS infrastructure is global, but you choose where many of your resources 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AWS Regions and Availability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A Region is a geographic area; an Availability Zone is an isolated location within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091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2B4D"/>
                </a:solidFill>
                <a:latin typeface="Aptos"/>
              </a:rPr>
              <a:t>REGION = geographic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514600"/>
            <a:ext cx="4069080" cy="2377440"/>
          </a:xfrm>
          <a:prstGeom prst="roundRect">
            <a:avLst/>
          </a:prstGeom>
          <a:solidFill>
            <a:srgbClr val="EFF6FC"/>
          </a:solidFill>
          <a:ln w="25400">
            <a:solidFill>
              <a:srgbClr val="2D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651760"/>
            <a:ext cx="37033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6FBE"/>
                </a:solidFill>
                <a:latin typeface="Aptos"/>
              </a:rPr>
              <a:t>Example: Asia Pacific (Mumbai)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246120"/>
            <a:ext cx="960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47088" y="3364992"/>
            <a:ext cx="365760" cy="365760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3392424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94760"/>
            <a:ext cx="868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2B4D"/>
                </a:solidFill>
                <a:latin typeface="Aptos"/>
              </a:rPr>
              <a:t>AZ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46120"/>
            <a:ext cx="960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35808" y="3364992"/>
            <a:ext cx="365760" cy="365760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39" y="3392424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794760"/>
            <a:ext cx="868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2B4D"/>
                </a:solidFill>
                <a:latin typeface="Aptos"/>
              </a:rPr>
              <a:t>AZ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246120"/>
            <a:ext cx="960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24528" y="3364992"/>
            <a:ext cx="365760" cy="365760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392424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794760"/>
            <a:ext cx="868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2B4D"/>
                </a:solidFill>
                <a:latin typeface="Aptos"/>
              </a:rPr>
              <a:t>AZ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554480"/>
            <a:ext cx="52578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6177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2B4D"/>
                </a:solidFill>
                <a:latin typeface="Aptos"/>
              </a:rPr>
              <a:t>Why use more than one AZ?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14600"/>
            <a:ext cx="4526280" cy="224028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5303E"/>
                </a:solidFill>
                <a:latin typeface="Aptos"/>
              </a:defRPr>
            </a:pPr>
            <a:r>
              <a:rPr sz="1600" b="1">
                <a:solidFill>
                  <a:srgbClr val="2D6FBE"/>
                </a:solidFill>
                <a:latin typeface="Aptos"/>
              </a:rPr>
              <a:t>• Availability: </a:t>
            </a:r>
            <a:r>
              <a:rPr sz="1600">
                <a:solidFill>
                  <a:srgbClr val="25303E"/>
                </a:solidFill>
                <a:latin typeface="Aptos"/>
              </a:rPr>
              <a:t>if one location has a problem, another may keep the app running.</a:t>
            </a:r>
          </a:p>
          <a:p>
            <a:pPr>
              <a:spcAft>
                <a:spcPts val="1300"/>
              </a:spcAft>
              <a:defRPr sz="1600">
                <a:solidFill>
                  <a:srgbClr val="25303E"/>
                </a:solidFill>
                <a:latin typeface="Aptos"/>
              </a:defRPr>
            </a:pPr>
            <a:r>
              <a:rPr sz="1600" b="1">
                <a:solidFill>
                  <a:srgbClr val="2D6FBE"/>
                </a:solidFill>
                <a:latin typeface="Aptos"/>
              </a:rPr>
              <a:t>• Separation: </a:t>
            </a:r>
            <a:r>
              <a:rPr sz="1600">
                <a:solidFill>
                  <a:srgbClr val="25303E"/>
                </a:solidFill>
                <a:latin typeface="Aptos"/>
              </a:rPr>
              <a:t>AZs are designed to be isolated from one another.</a:t>
            </a:r>
          </a:p>
          <a:p>
            <a:pPr>
              <a:spcAft>
                <a:spcPts val="1300"/>
              </a:spcAft>
              <a:defRPr sz="1600">
                <a:solidFill>
                  <a:srgbClr val="25303E"/>
                </a:solidFill>
                <a:latin typeface="Aptos"/>
              </a:defRPr>
            </a:pPr>
            <a:r>
              <a:rPr sz="1600" b="1">
                <a:solidFill>
                  <a:srgbClr val="2D6FBE"/>
                </a:solidFill>
                <a:latin typeface="Aptos"/>
              </a:rPr>
              <a:t>• Good practice: </a:t>
            </a:r>
            <a:r>
              <a:rPr sz="1600">
                <a:solidFill>
                  <a:srgbClr val="25303E"/>
                </a:solidFill>
                <a:latin typeface="Aptos"/>
              </a:rPr>
              <a:t>important systems can be spread across AZs.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Region = where in the world; Availability Zone = a separate location within that Region.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AWS Management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The website used to access and manage 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537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989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5989320" cy="411480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01952"/>
            <a:ext cx="2103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AWS Management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87168"/>
            <a:ext cx="5394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5303E"/>
                </a:solidFill>
                <a:latin typeface="Aptos"/>
              </a:rPr>
              <a:t>Find a service:  [ EC2                         🔍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154680"/>
            <a:ext cx="1143000" cy="105156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3273552"/>
            <a:ext cx="384048" cy="384048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" y="3300984"/>
            <a:ext cx="329184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39"/>
            <a:ext cx="9601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2B4D"/>
                </a:solidFill>
                <a:latin typeface="Aptos"/>
              </a:rPr>
              <a:t>EC2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3154680"/>
            <a:ext cx="1143000" cy="105156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07792" y="3273552"/>
            <a:ext cx="384048" cy="384048"/>
          </a:xfrm>
          <a:prstGeom prst="ellipse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5224" y="3300984"/>
            <a:ext cx="329184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749039"/>
            <a:ext cx="9601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2B4D"/>
                </a:solidFill>
                <a:latin typeface="Aptos"/>
              </a:rPr>
              <a:t>S3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5344" y="3154680"/>
            <a:ext cx="1143000" cy="105156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61104" y="3273552"/>
            <a:ext cx="384048" cy="384048"/>
          </a:xfrm>
          <a:prstGeom prst="ellipse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3300984"/>
            <a:ext cx="329184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3" y="3749039"/>
            <a:ext cx="9601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2B4D"/>
                </a:solidFill>
                <a:latin typeface="Aptos"/>
              </a:rPr>
              <a:t>Lambda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48655" y="3154680"/>
            <a:ext cx="1143000" cy="105156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14416" y="3273552"/>
            <a:ext cx="384048" cy="384048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1848" y="3300984"/>
            <a:ext cx="329184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5" y="3749039"/>
            <a:ext cx="9601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2B4D"/>
                </a:solidFill>
                <a:latin typeface="Aptos"/>
              </a:rPr>
              <a:t>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572000"/>
            <a:ext cx="5212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37181"/>
                </a:solidFill>
                <a:latin typeface="Aptos"/>
              </a:rPr>
              <a:t>Illustration only — the real console layout may 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554480"/>
            <a:ext cx="4069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828800"/>
            <a:ext cx="3429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2B4D"/>
                </a:solidFill>
                <a:latin typeface="Aptos"/>
              </a:rPr>
              <a:t>Basic navigation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395728"/>
            <a:ext cx="3429000" cy="265176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>
                <a:solidFill>
                  <a:srgbClr val="25303E"/>
                </a:solidFill>
                <a:latin typeface="Aptos"/>
              </a:rPr>
              <a:t>• Sign in to the correct AWS account.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>
                <a:solidFill>
                  <a:srgbClr val="25303E"/>
                </a:solidFill>
                <a:latin typeface="Aptos"/>
              </a:rPr>
              <a:t>• Choose a Region when the service uses Regions.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>
                <a:solidFill>
                  <a:srgbClr val="25303E"/>
                </a:solidFill>
                <a:latin typeface="Aptos"/>
              </a:rPr>
              <a:t>• Search for a service, such as EC2 or S3.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>
                <a:solidFill>
                  <a:srgbClr val="25303E"/>
                </a:solidFill>
                <a:latin typeface="Aptos"/>
              </a:rPr>
              <a:t>• Check the service's resources and settings.</a:t>
            </a:r>
          </a:p>
          <a:p>
            <a:pPr>
              <a:spcAft>
                <a:spcPts val="10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>
                <a:solidFill>
                  <a:srgbClr val="25303E"/>
                </a:solidFill>
                <a:latin typeface="Aptos"/>
              </a:rPr>
              <a:t>• Review costs and delete resources after practice.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The console is the control panel for your AWS account.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AWS IAM: Users, Groups, Roles and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IAM controls who can do what in your AWS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6903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6355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2B4D"/>
                </a:solidFill>
                <a:latin typeface="Aptos"/>
              </a:rPr>
              <a:t>How access is organised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770632"/>
            <a:ext cx="1179576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6FBE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11430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5303E"/>
                </a:solidFill>
                <a:latin typeface="Aptos"/>
              </a:rPr>
              <a:t>A person or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56032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770632"/>
            <a:ext cx="1179576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FAEBE"/>
                </a:solidFill>
                <a:latin typeface="Aptos"/>
              </a:rPr>
              <a:t>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127248"/>
            <a:ext cx="11430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5303E"/>
                </a:solidFill>
                <a:latin typeface="Aptos"/>
              </a:rPr>
              <a:t>A collection of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56032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770632"/>
            <a:ext cx="1179576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B973E"/>
                </a:solidFill>
                <a:latin typeface="Aptos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27248"/>
            <a:ext cx="11430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5303E"/>
                </a:solidFill>
                <a:latin typeface="Aptos"/>
              </a:rPr>
              <a:t>Rules: allow or deny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56032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770632"/>
            <a:ext cx="1179576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29169"/>
                </a:solidFill>
                <a:latin typeface="Aptos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3127248"/>
            <a:ext cx="11430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5303E"/>
                </a:solidFill>
                <a:latin typeface="Aptos"/>
              </a:rPr>
              <a:t>Temporary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617220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5303E"/>
                </a:solidFill>
                <a:latin typeface="Aptos"/>
              </a:rPr>
              <a:t>Example: a student may be allowed to view an S3 bucket but not delete files. A role can let an AWS service access another service securely.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572768"/>
            <a:ext cx="3703320" cy="406908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1856231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2B4D"/>
                </a:solidFill>
                <a:latin typeface="Aptos"/>
              </a:rPr>
              <a:t>Remember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514600"/>
            <a:ext cx="3017520" cy="2468880"/>
          </a:xfrm>
          <a:prstGeom prst="rect">
            <a:avLst/>
          </a:prstGeom>
          <a:noFill/>
        </p:spPr>
        <p:txBody>
          <a:bodyPr wrap="square" lIns="54864" rIns="36576" tIns="36576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User: </a:t>
            </a:r>
            <a:r>
              <a:rPr sz="1500">
                <a:solidFill>
                  <a:srgbClr val="25303E"/>
                </a:solidFill>
                <a:latin typeface="Aptos"/>
              </a:rPr>
              <a:t>an identity.</a:t>
            </a:r>
          </a:p>
          <a:p>
            <a:pPr>
              <a:spcAft>
                <a:spcPts val="11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Group: </a:t>
            </a:r>
            <a:r>
              <a:rPr sz="1500">
                <a:solidFill>
                  <a:srgbClr val="25303E"/>
                </a:solidFill>
                <a:latin typeface="Aptos"/>
              </a:rPr>
              <a:t>users with similar needs.</a:t>
            </a:r>
          </a:p>
          <a:p>
            <a:pPr>
              <a:spcAft>
                <a:spcPts val="11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Policy: </a:t>
            </a:r>
            <a:r>
              <a:rPr sz="1500">
                <a:solidFill>
                  <a:srgbClr val="25303E"/>
                </a:solidFill>
                <a:latin typeface="Aptos"/>
              </a:rPr>
              <a:t>permission rules.</a:t>
            </a:r>
          </a:p>
          <a:p>
            <a:pPr>
              <a:spcAft>
                <a:spcPts val="1100"/>
              </a:spcAft>
              <a:defRPr sz="1500">
                <a:solidFill>
                  <a:srgbClr val="25303E"/>
                </a:solidFill>
                <a:latin typeface="Aptos"/>
              </a:defRPr>
            </a:pPr>
            <a:r>
              <a:rPr sz="1500" b="1">
                <a:solidFill>
                  <a:srgbClr val="2D6FBE"/>
                </a:solidFill>
                <a:latin typeface="Aptos"/>
              </a:rPr>
              <a:t>• Role: </a:t>
            </a:r>
            <a:r>
              <a:rPr sz="1500">
                <a:solidFill>
                  <a:srgbClr val="25303E"/>
                </a:solidFill>
                <a:latin typeface="Aptos"/>
              </a:rPr>
              <a:t>permissions assumed temporarily by a user or service.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Give each identity only the permissions needed for its task.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AWS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Simple habits that help protect your account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783080"/>
            <a:ext cx="475488" cy="475488"/>
          </a:xfrm>
          <a:prstGeom prst="ellipse">
            <a:avLst/>
          </a:prstGeom>
          <a:solidFill>
            <a:srgbClr val="C1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64792"/>
            <a:ext cx="22677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2B4D"/>
                </a:solidFill>
                <a:latin typeface="Aptos"/>
              </a:rPr>
              <a:t>Protect the root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5303E"/>
                </a:solidFill>
                <a:latin typeface="Aptos"/>
              </a:rPr>
              <a:t>Use it only for tasks that require it; enable MFA.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1783080"/>
            <a:ext cx="475488" cy="475488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81051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764792"/>
            <a:ext cx="22677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2B4D"/>
                </a:solidFill>
                <a:latin typeface="Aptos"/>
              </a:rPr>
              <a:t>Use least privilege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359152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5303E"/>
                </a:solidFill>
                <a:latin typeface="Aptos"/>
              </a:rPr>
              <a:t>Give users only the access they need.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60020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1783080"/>
            <a:ext cx="475488" cy="475488"/>
          </a:xfrm>
          <a:prstGeom prst="ellipse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81051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1764792"/>
            <a:ext cx="22677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2B4D"/>
                </a:solidFill>
                <a:latin typeface="Aptos"/>
              </a:rPr>
              <a:t>Keep credentials 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59152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5303E"/>
                </a:solidFill>
                <a:latin typeface="Aptos"/>
              </a:rPr>
              <a:t>Never share passwords, access keys or secret keys.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2044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3703320"/>
            <a:ext cx="475488" cy="475488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73075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3685032"/>
            <a:ext cx="22677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2B4D"/>
                </a:solidFill>
                <a:latin typeface="Aptos"/>
              </a:rPr>
              <a:t>Secure network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79392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5303E"/>
                </a:solidFill>
                <a:latin typeface="Aptos"/>
              </a:rPr>
              <a:t>Avoid opening ports to everyone unless necessary.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52044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45152" y="3703320"/>
            <a:ext cx="475488" cy="475488"/>
          </a:xfrm>
          <a:prstGeom prst="ellipse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2584" y="373075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685032"/>
            <a:ext cx="22677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2B4D"/>
                </a:solidFill>
                <a:latin typeface="Aptos"/>
              </a:rPr>
              <a:t>Monitor and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279392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5303E"/>
                </a:solidFill>
                <a:latin typeface="Aptos"/>
              </a:rPr>
              <a:t>Check billing, alerts, activity and permissions.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52044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9912" y="3703320"/>
            <a:ext cx="475488" cy="475488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73075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3685032"/>
            <a:ext cx="22677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2B4D"/>
                </a:solidFill>
                <a:latin typeface="Aptos"/>
              </a:rPr>
              <a:t>Clean up after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279392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5303E"/>
                </a:solidFill>
                <a:latin typeface="Aptos"/>
              </a:rPr>
              <a:t>Stop or delete resources you no longer need.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Security is a shared responsibility: AWS secures the cloud; you secure what you configure in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Amazon EC2: Introduction and Instance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EC2 provides virtual servers that you can launch when you need computing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45720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023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2B4D"/>
                </a:solidFill>
                <a:latin typeface="Aptos"/>
              </a:rPr>
              <a:t>What is an EC2 instance?</a:t>
            </a:r>
          </a:p>
        </p:txBody>
      </p:sp>
      <p:sp>
        <p:nvSpPr>
          <p:cNvPr id="8" name="Oval 7"/>
          <p:cNvSpPr/>
          <p:nvPr/>
        </p:nvSpPr>
        <p:spPr>
          <a:xfrm>
            <a:off x="2313432" y="2487168"/>
            <a:ext cx="1051560" cy="1051560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863" y="2514600"/>
            <a:ext cx="996695" cy="99669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EC2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30752"/>
            <a:ext cx="37033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03E"/>
                </a:solidFill>
                <a:latin typeface="Aptos"/>
              </a:rPr>
              <a:t>Think of it as a computer rented from AWS. You choose its operating system, size and network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384048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329169"/>
                </a:solidFill>
                <a:latin typeface="Aptos"/>
              </a:rPr>
              <a:t>Use cases: websites, apps, testing and training labs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572768"/>
            <a:ext cx="59893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1847088"/>
            <a:ext cx="5394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2B4D"/>
                </a:solidFill>
                <a:latin typeface="Aptos"/>
              </a:rPr>
              <a:t>Instance families (simple guide)</a:t>
            </a:r>
          </a:p>
        </p:txBody>
      </p:sp>
      <p:sp>
        <p:nvSpPr>
          <p:cNvPr id="14" name="Oval 13"/>
          <p:cNvSpPr/>
          <p:nvPr/>
        </p:nvSpPr>
        <p:spPr>
          <a:xfrm>
            <a:off x="5897880" y="2487168"/>
            <a:ext cx="310896" cy="310896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514600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478024"/>
            <a:ext cx="1664208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2B4D"/>
                </a:solidFill>
                <a:latin typeface="Aptos"/>
              </a:rPr>
              <a:t>General 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78024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5303E"/>
                </a:solidFill>
                <a:latin typeface="Aptos"/>
              </a:rPr>
              <a:t>Balanced CPU and memory; good starting point.</a:t>
            </a:r>
          </a:p>
        </p:txBody>
      </p:sp>
      <p:sp>
        <p:nvSpPr>
          <p:cNvPr id="18" name="Oval 17"/>
          <p:cNvSpPr/>
          <p:nvPr/>
        </p:nvSpPr>
        <p:spPr>
          <a:xfrm>
            <a:off x="5897880" y="3044952"/>
            <a:ext cx="310896" cy="310896"/>
          </a:xfrm>
          <a:prstGeom prst="ellipse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3072384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35808"/>
            <a:ext cx="1664208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2B4D"/>
                </a:solidFill>
                <a:latin typeface="Aptos"/>
              </a:rPr>
              <a:t>Compute optimized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035808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5303E"/>
                </a:solidFill>
                <a:latin typeface="Aptos"/>
              </a:rPr>
              <a:t>More processing power for CPU-heavy work.</a:t>
            </a:r>
          </a:p>
        </p:txBody>
      </p:sp>
      <p:sp>
        <p:nvSpPr>
          <p:cNvPr id="22" name="Oval 21"/>
          <p:cNvSpPr/>
          <p:nvPr/>
        </p:nvSpPr>
        <p:spPr>
          <a:xfrm>
            <a:off x="5897880" y="3602736"/>
            <a:ext cx="310896" cy="310896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36301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593592"/>
            <a:ext cx="1664208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2B4D"/>
                </a:solidFill>
                <a:latin typeface="Aptos"/>
              </a:rPr>
              <a:t>Memory optimized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593592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5303E"/>
                </a:solidFill>
                <a:latin typeface="Aptos"/>
              </a:rPr>
              <a:t>More RAM for large in-memory workloads.</a:t>
            </a:r>
          </a:p>
        </p:txBody>
      </p:sp>
      <p:sp>
        <p:nvSpPr>
          <p:cNvPr id="26" name="Oval 25"/>
          <p:cNvSpPr/>
          <p:nvPr/>
        </p:nvSpPr>
        <p:spPr>
          <a:xfrm>
            <a:off x="5897880" y="4160520"/>
            <a:ext cx="310896" cy="310896"/>
          </a:xfrm>
          <a:prstGeom prst="ellipse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4187952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151376"/>
            <a:ext cx="1664208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2B4D"/>
                </a:solidFill>
                <a:latin typeface="Aptos"/>
              </a:rPr>
              <a:t>Storage optimized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151376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5303E"/>
                </a:solidFill>
                <a:latin typeface="Aptos"/>
              </a:rPr>
              <a:t>Designed for high-speed local data access.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4718304"/>
            <a:ext cx="310896" cy="310896"/>
          </a:xfrm>
          <a:prstGeom prst="ellipse">
            <a:avLst/>
          </a:prstGeom>
          <a:solidFill>
            <a:srgbClr val="C1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25312" y="474573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709160"/>
            <a:ext cx="1664208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2B4D"/>
                </a:solidFill>
                <a:latin typeface="Aptos"/>
              </a:rPr>
              <a:t>Accelerated computing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709160"/>
            <a:ext cx="3063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5303E"/>
                </a:solidFill>
                <a:latin typeface="Aptos"/>
              </a:rPr>
              <a:t>Uses GPUs or special chips for suitable workloads.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Choose an instance size and family based on the workload; larger is not always better.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AMI, Key Pair and Security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7E5F5"/>
                </a:solidFill>
                <a:latin typeface="Aptos"/>
              </a:rPr>
              <a:t>Three important choices when launching an EC2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3718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31012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1901952"/>
            <a:ext cx="786384" cy="786384"/>
          </a:xfrm>
          <a:prstGeom prst="ellipse">
            <a:avLst/>
          </a:prstGeom>
          <a:solidFill>
            <a:srgbClr val="2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1" y="1929384"/>
            <a:ext cx="7315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16352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2B4D"/>
                </a:solidFill>
                <a:latin typeface="Aptos"/>
              </a:rPr>
              <a:t>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82112"/>
            <a:ext cx="294436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6FBE"/>
                </a:solidFill>
                <a:latin typeface="Aptos"/>
              </a:rPr>
              <a:t>The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2761488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5303E"/>
                </a:solidFill>
                <a:latin typeface="Aptos"/>
              </a:rPr>
              <a:t>A pre-built image that provides the operating system and sometimes extra software.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761488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37181"/>
                </a:solidFill>
                <a:latin typeface="Aptos"/>
              </a:rPr>
              <a:t>Like choosing a computer setup before turning it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27632"/>
            <a:ext cx="331012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79" y="1901952"/>
            <a:ext cx="786384" cy="786384"/>
          </a:xfrm>
          <a:prstGeom prst="ellipse">
            <a:avLst/>
          </a:prstGeom>
          <a:solidFill>
            <a:srgbClr val="2F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929384"/>
            <a:ext cx="7315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16352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2B4D"/>
                </a:solidFill>
                <a:latin typeface="Aptos"/>
              </a:rPr>
              <a:t>KEY 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82112"/>
            <a:ext cx="294436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FAEBE"/>
                </a:solidFill>
                <a:latin typeface="Aptos"/>
              </a:rPr>
              <a:t>The login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611880"/>
            <a:ext cx="2761488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5303E"/>
                </a:solidFill>
                <a:latin typeface="Aptos"/>
              </a:rPr>
              <a:t>A public/private key pair used to authenticate securely to supported instances.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572000"/>
            <a:ext cx="2761488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37181"/>
                </a:solidFill>
                <a:latin typeface="Aptos"/>
              </a:rPr>
              <a:t>Like a lock and its matching key—keep the private key safe.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27632"/>
            <a:ext cx="331012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64040" y="1901952"/>
            <a:ext cx="786384" cy="786384"/>
          </a:xfrm>
          <a:prstGeom prst="ellipse">
            <a:avLst/>
          </a:prstGeom>
          <a:solidFill>
            <a:srgbClr val="EB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1929384"/>
            <a:ext cx="7315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16352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2B4D"/>
                </a:solidFill>
                <a:latin typeface="Aptos"/>
              </a:rPr>
              <a:t>SECURITY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182112"/>
            <a:ext cx="294436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B973E"/>
                </a:solidFill>
                <a:latin typeface="Aptos"/>
              </a:rPr>
              <a:t>The network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611880"/>
            <a:ext cx="2761488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5303E"/>
                </a:solidFill>
                <a:latin typeface="Aptos"/>
              </a:rPr>
              <a:t>A virtual firewall that controls allowed inbound and outbound traffic.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72000"/>
            <a:ext cx="2761488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37181"/>
                </a:solidFill>
                <a:latin typeface="Aptos"/>
              </a:rPr>
              <a:t>Like a building's security desk deciding who can enter.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806440"/>
            <a:ext cx="11018520" cy="475488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87959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2B4D"/>
                </a:solidFill>
                <a:latin typeface="Aptos"/>
              </a:rPr>
              <a:t>KEY IDEA  |  AMI = what is installed; key pair = how you log in; security group = what network traffic is allowed.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37181"/>
                </a:solidFill>
                <a:latin typeface="Aptos"/>
              </a:rPr>
              <a:t>AWS Cloud Fundamentals • Beginner-friendly teaching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